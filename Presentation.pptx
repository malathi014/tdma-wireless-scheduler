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02C57"/>
                </a:solidFill>
              </a:defRPr>
            </a:pPr>
            <a:r>
              <a:t>Wireless TDMA Protocol Scheduler &amp; Simulation</a:t>
            </a:r>
          </a:p>
          <a:p>
            <a:pPr>
              <a:spcBef>
                <a:spcPts val="1500"/>
              </a:spcBef>
              <a:defRPr sz="2200">
                <a:solidFill>
                  <a:srgbClr val="505050"/>
                </a:solidFill>
              </a:defRPr>
            </a:pPr>
            <a:r>
              <a:t>Assessment Submission for Wireless Developer Internship | Vaan Megam Networks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02C57"/>
                </a:solidFill>
              </a:defRPr>
            </a:pPr>
            <a:r>
              <a:t>1. Problem Statement &amp;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TDMA (Time Division Multiple Access) networks allow multiple radios to share a single frequency across discrete, synchronized time-slots.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Distance-1 Interference (Direct Link): Radios within 500m cannot transmit simultaneously to prevent immediate collision.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Distance-2 Interference (Hidden Terminal): Radios sharing a common neighbor collide at the receiver if transmitting concurrently.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Objective: Develop a centralized scheduler to eliminate all 1-hop and 2-hop collisions while optimizing frame length via spatial reuse.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02C57"/>
                </a:solidFill>
              </a:defRPr>
            </a:pPr>
            <a:r>
              <a:t>2. Algorithm Architecture &amp;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Topology Modelling: Accepts JSON node coordinates and constructs a physical connectivity graph using NetworkX (Range &lt;= 500m).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Distance-2 Conflict Graph (G^2): Expands 1-hop and 2-hop dependencies into direct conflict edges between mutually interfering nodes.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Greedy Graph Coloring Heuristic: Prioritizes allocation using Largest-Degree-First ordering to minimize total required time slots.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Deterministic Schedule Generation: Generates direct Node-to-Slot mappings alongside an explicit Slot x Node boolean matrix.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02C57"/>
                </a:solidFill>
              </a:defRPr>
            </a:pPr>
            <a:r>
              <a:t>3. Optimization Results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Successfully evaluated a 16-node topology configured with a 500-meter radio range.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Schedule Output: Compressed transmission down to conflict-free time slots.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Spatial Reuse Demonstrated: Non-interfering, distant nodes (separated by &gt;2 hops) safely share identical time slots (e.g., Slot 08).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Conflict Verification: Validated zero co-channel interference across all active wireless nodes.</a:t>
            </a:r>
          </a:p>
        </p:txBody>
      </p:sp>
      <p:pic>
        <p:nvPicPr>
          <p:cNvPr id="4" name="Picture 3" descr="TDMA Topology Optimization Report Generated by Python Schedul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9135" y="3865880"/>
            <a:ext cx="5271135" cy="27959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02C57"/>
                </a:solidFill>
              </a:defRPr>
            </a:pPr>
            <a:r>
              <a:t>4. Physical Emulation Approach (EMANE)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Environment Setup: Deploy EMANE runtime in a containerized Docker / Linux environment.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Profile Translation: Serialize Part 1 schedule matrix into native EMANE TDMA Radio Model XML configuration profiles (1ms slots).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Packet Enforcement: Execute virtual network traffic where EMANE strictly drops out-of-slot packets and delivers authorized frames.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495300" y="726440"/>
            <a:ext cx="6595110" cy="2191385"/>
          </a:xfrm>
          <a:prstGeom prst="rect">
            <a:avLst/>
          </a:prstGeom>
        </p:spPr>
        <p:txBody>
          <a:bodyPr>
            <a:noAutofit/>
          </a:bodyPr>
          <a:p>
            <a:pPr>
              <a:lnSpc>
                <a:spcPts val="1200"/>
              </a:lnSpc>
            </a:pPr>
            <a:r>
              <a:rPr lang="en-IN" sz="3200" b="1" i="0">
                <a:solidFill>
                  <a:srgbClr val="002060"/>
                </a:solidFill>
                <a:latin typeface="Calibri" panose="020F0502020204030204" charset="0"/>
                <a:ea typeface="Segoe UI" panose="020B0502040204020203"/>
                <a:cs typeface="Calibri" panose="020F0502020204030204" charset="0"/>
              </a:rPr>
              <a:t>5. </a:t>
            </a:r>
            <a:r>
              <a:rPr sz="3200" b="1" i="0">
                <a:solidFill>
                  <a:srgbClr val="002060"/>
                </a:solidFill>
                <a:latin typeface="Calibri" panose="020F0502020204030204" charset="0"/>
                <a:ea typeface="Segoe UI" panose="020B0502040204020203"/>
                <a:cs typeface="Calibri" panose="020F0502020204030204" charset="0"/>
              </a:rPr>
              <a:t>Future Scope</a:t>
            </a:r>
            <a:endParaRPr sz="3200" b="1" i="0">
              <a:solidFill>
                <a:srgbClr val="002060"/>
              </a:solidFill>
              <a:latin typeface="Calibri" panose="020F0502020204030204" charset="0"/>
              <a:ea typeface="Segoe UI" panose="020B0502040204020203"/>
              <a:cs typeface="Calibri" panose="020F0502020204030204" charset="0"/>
            </a:endParaRPr>
          </a:p>
          <a:p>
            <a:pPr>
              <a:lnSpc>
                <a:spcPts val="1200"/>
              </a:lnSpc>
            </a:pPr>
            <a:endParaRPr sz="3200" b="0" i="0">
              <a:solidFill>
                <a:srgbClr val="002060"/>
              </a:solidFill>
              <a:latin typeface="Calibri" panose="020F0502020204030204" charset="0"/>
              <a:ea typeface="Segoe UI" panose="020B0502040204020203"/>
              <a:cs typeface="Calibri" panose="020F0502020204030204" charset="0"/>
            </a:endParaRPr>
          </a:p>
          <a:p>
            <a:pPr>
              <a:lnSpc>
                <a:spcPts val="1200"/>
              </a:lnSpc>
            </a:pPr>
            <a:endParaRPr b="0" i="0">
              <a:latin typeface="Segoe UI" panose="020B0502040204020203"/>
              <a:ea typeface="Segoe UI" panose="020B0502040204020203"/>
            </a:endParaRPr>
          </a:p>
          <a:p>
            <a:pPr>
              <a:lnSpc>
                <a:spcPts val="1200"/>
              </a:lnSpc>
              <a:buFont typeface="Arial" panose="020B0604020202020204"/>
              <a:buChar char="•"/>
            </a:pPr>
            <a:r>
              <a:rPr lang="en-IN" b="0" i="0">
                <a:latin typeface="Segoe UI" panose="020B0502040204020203"/>
                <a:ea typeface="Segoe UI" panose="020B0502040204020203"/>
              </a:rPr>
              <a:t> </a:t>
            </a:r>
            <a:r>
              <a:rPr b="0" i="0">
                <a:latin typeface="Segoe UI" panose="020B0502040204020203"/>
                <a:ea typeface="Segoe UI" panose="020B0502040204020203"/>
              </a:rPr>
              <a:t>Dynamic slot allocation for mobile nodes</a:t>
            </a:r>
            <a:endParaRPr b="0" i="0">
              <a:latin typeface="Segoe UI" panose="020B0502040204020203"/>
              <a:ea typeface="Segoe UI" panose="020B0502040204020203"/>
            </a:endParaRPr>
          </a:p>
          <a:p>
            <a:pPr>
              <a:lnSpc>
                <a:spcPts val="1200"/>
              </a:lnSpc>
              <a:buFont typeface="Arial" panose="020B0604020202020204"/>
              <a:buChar char="•"/>
            </a:pPr>
            <a:endParaRPr b="0" i="0">
              <a:latin typeface="Segoe UI" panose="020B0502040204020203"/>
              <a:ea typeface="Segoe UI" panose="020B0502040204020203"/>
            </a:endParaRPr>
          </a:p>
          <a:p>
            <a:pPr>
              <a:lnSpc>
                <a:spcPts val="1200"/>
              </a:lnSpc>
              <a:buFont typeface="Arial" panose="020B0604020202020204"/>
              <a:buChar char="•"/>
            </a:pPr>
            <a:endParaRPr b="0" i="0">
              <a:latin typeface="Segoe UI" panose="020B0502040204020203"/>
              <a:ea typeface="Segoe UI" panose="020B0502040204020203"/>
            </a:endParaRPr>
          </a:p>
          <a:p>
            <a:pPr>
              <a:lnSpc>
                <a:spcPts val="1200"/>
              </a:lnSpc>
              <a:buFont typeface="Arial" panose="020B0604020202020204"/>
              <a:buChar char="•"/>
            </a:pPr>
            <a:r>
              <a:rPr lang="en-IN" b="0" i="0">
                <a:latin typeface="Segoe UI" panose="020B0502040204020203"/>
                <a:ea typeface="Segoe UI" panose="020B0502040204020203"/>
              </a:rPr>
              <a:t> </a:t>
            </a:r>
            <a:r>
              <a:rPr b="0" i="0">
                <a:latin typeface="Segoe UI" panose="020B0502040204020203"/>
                <a:ea typeface="Segoe UI" panose="020B0502040204020203"/>
              </a:rPr>
              <a:t>Automatic EMANE XML generation</a:t>
            </a:r>
            <a:endParaRPr b="0" i="0">
              <a:latin typeface="Segoe UI" panose="020B0502040204020203"/>
              <a:ea typeface="Segoe UI" panose="020B0502040204020203"/>
            </a:endParaRPr>
          </a:p>
          <a:p>
            <a:pPr>
              <a:lnSpc>
                <a:spcPts val="1200"/>
              </a:lnSpc>
              <a:buFont typeface="Arial" panose="020B0604020202020204"/>
              <a:buChar char="•"/>
            </a:pPr>
            <a:endParaRPr b="0" i="0">
              <a:latin typeface="Segoe UI" panose="020B0502040204020203"/>
              <a:ea typeface="Segoe UI" panose="020B0502040204020203"/>
            </a:endParaRPr>
          </a:p>
          <a:p>
            <a:pPr>
              <a:lnSpc>
                <a:spcPts val="1200"/>
              </a:lnSpc>
              <a:buFont typeface="Arial" panose="020B0604020202020204"/>
              <a:buChar char="•"/>
            </a:pPr>
            <a:endParaRPr b="0" i="0">
              <a:latin typeface="Segoe UI" panose="020B0502040204020203"/>
              <a:ea typeface="Segoe UI" panose="020B0502040204020203"/>
            </a:endParaRPr>
          </a:p>
          <a:p>
            <a:pPr>
              <a:lnSpc>
                <a:spcPts val="1200"/>
              </a:lnSpc>
              <a:buFont typeface="Arial" panose="020B0604020202020204"/>
              <a:buChar char="•"/>
            </a:pPr>
            <a:r>
              <a:rPr lang="en-IN" b="0" i="0">
                <a:latin typeface="Segoe UI" panose="020B0502040204020203"/>
                <a:ea typeface="Segoe UI" panose="020B0502040204020203"/>
              </a:rPr>
              <a:t> </a:t>
            </a:r>
            <a:r>
              <a:rPr b="0" i="0">
                <a:latin typeface="Segoe UI" panose="020B0502040204020203"/>
                <a:ea typeface="Segoe UI" panose="020B0502040204020203"/>
              </a:rPr>
              <a:t>SDR platform integration</a:t>
            </a:r>
            <a:endParaRPr b="0" i="0">
              <a:latin typeface="Segoe UI" panose="020B0502040204020203"/>
              <a:ea typeface="Segoe UI" panose="020B0502040204020203"/>
            </a:endParaRPr>
          </a:p>
          <a:p>
            <a:pPr>
              <a:lnSpc>
                <a:spcPts val="1200"/>
              </a:lnSpc>
              <a:buFont typeface="Arial" panose="020B0604020202020204"/>
              <a:buChar char="•"/>
            </a:pPr>
            <a:endParaRPr b="0" i="0">
              <a:latin typeface="Segoe UI" panose="020B0502040204020203"/>
              <a:ea typeface="Segoe UI" panose="020B0502040204020203"/>
            </a:endParaRPr>
          </a:p>
          <a:p>
            <a:pPr>
              <a:lnSpc>
                <a:spcPts val="1200"/>
              </a:lnSpc>
              <a:buFont typeface="Arial" panose="020B0604020202020204"/>
              <a:buChar char="•"/>
            </a:pPr>
            <a:endParaRPr b="0" i="0">
              <a:latin typeface="Segoe UI" panose="020B0502040204020203"/>
              <a:ea typeface="Segoe UI" panose="020B0502040204020203"/>
            </a:endParaRPr>
          </a:p>
          <a:p>
            <a:pPr>
              <a:lnSpc>
                <a:spcPts val="1200"/>
              </a:lnSpc>
              <a:buFont typeface="Arial" panose="020B0604020202020204"/>
              <a:buChar char="•"/>
            </a:pPr>
            <a:endParaRPr b="0" i="0">
              <a:latin typeface="Segoe UI" panose="020B0502040204020203"/>
              <a:ea typeface="Segoe UI" panose="020B0502040204020203"/>
            </a:endParaRPr>
          </a:p>
          <a:p>
            <a:pPr>
              <a:lnSpc>
                <a:spcPts val="1200"/>
              </a:lnSpc>
              <a:buFont typeface="Arial" panose="020B0604020202020204"/>
              <a:buChar char="•"/>
            </a:pPr>
            <a:endParaRPr b="0" i="0">
              <a:latin typeface="Segoe UI" panose="020B0502040204020203"/>
              <a:ea typeface="Segoe UI" panose="020B0502040204020203"/>
            </a:endParaRPr>
          </a:p>
          <a:p>
            <a:pPr indent="0">
              <a:lnSpc>
                <a:spcPts val="1200"/>
              </a:lnSpc>
              <a:buFont typeface="Arial" panose="020B0604020202020204"/>
              <a:buNone/>
            </a:pPr>
            <a:endParaRPr b="0" i="0">
              <a:latin typeface="Segoe UI" panose="020B0502040204020203"/>
              <a:ea typeface="Segoe UI" panose="020B0502040204020203"/>
            </a:endParaRPr>
          </a:p>
          <a:p>
            <a:pPr>
              <a:lnSpc>
                <a:spcPts val="1200"/>
              </a:lnSpc>
              <a:buFont typeface="Arial" panose="020B0604020202020204"/>
              <a:buChar char="•"/>
            </a:pPr>
            <a:endParaRPr b="1" i="0">
              <a:solidFill>
                <a:srgbClr val="002060"/>
              </a:solidFill>
              <a:latin typeface="Segoe UI" panose="020B0502040204020203"/>
              <a:ea typeface="Segoe UI" panose="020B0502040204020203"/>
            </a:endParaRPr>
          </a:p>
          <a:p>
            <a:pPr>
              <a:lnSpc>
                <a:spcPts val="1200"/>
              </a:lnSpc>
            </a:pPr>
            <a:r>
              <a:rPr lang="en-IN" sz="3200" b="1" i="0">
                <a:solidFill>
                  <a:srgbClr val="002060"/>
                </a:solidFill>
                <a:latin typeface="Calibri" panose="020F0502020204030204" charset="0"/>
                <a:ea typeface="Segoe UI" panose="020B0502040204020203"/>
                <a:cs typeface="Calibri" panose="020F0502020204030204" charset="0"/>
              </a:rPr>
              <a:t>6. </a:t>
            </a:r>
            <a:r>
              <a:rPr sz="3200" b="1" i="0">
                <a:solidFill>
                  <a:srgbClr val="002060"/>
                </a:solidFill>
                <a:latin typeface="Calibri" panose="020F0502020204030204" charset="0"/>
                <a:ea typeface="Segoe UI" panose="020B0502040204020203"/>
                <a:cs typeface="Calibri" panose="020F0502020204030204" charset="0"/>
              </a:rPr>
              <a:t>Conclusion</a:t>
            </a:r>
            <a:endParaRPr sz="3200" b="1" i="0">
              <a:solidFill>
                <a:srgbClr val="002060"/>
              </a:solidFill>
              <a:latin typeface="Calibri" panose="020F0502020204030204" charset="0"/>
              <a:ea typeface="Segoe UI" panose="020B0502040204020203"/>
              <a:cs typeface="Calibri" panose="020F0502020204030204" charset="0"/>
            </a:endParaRPr>
          </a:p>
          <a:p>
            <a:pPr>
              <a:lnSpc>
                <a:spcPts val="1200"/>
              </a:lnSpc>
            </a:pPr>
            <a:endParaRPr b="1" i="0">
              <a:solidFill>
                <a:srgbClr val="002060"/>
              </a:solidFill>
              <a:latin typeface="Segoe UI" panose="020B0502040204020203"/>
              <a:ea typeface="Segoe UI" panose="020B0502040204020203"/>
            </a:endParaRPr>
          </a:p>
          <a:p>
            <a:pPr>
              <a:lnSpc>
                <a:spcPts val="1200"/>
              </a:lnSpc>
            </a:pPr>
            <a:endParaRPr b="1" i="0">
              <a:solidFill>
                <a:srgbClr val="002060"/>
              </a:solidFill>
              <a:latin typeface="Segoe UI" panose="020B0502040204020203"/>
              <a:ea typeface="Segoe UI" panose="020B0502040204020203"/>
            </a:endParaRPr>
          </a:p>
          <a:p>
            <a:pPr>
              <a:lnSpc>
                <a:spcPts val="1200"/>
              </a:lnSpc>
              <a:buFont typeface="Arial" panose="020B0604020202020204"/>
              <a:buChar char="•"/>
            </a:pPr>
            <a:r>
              <a:rPr lang="en-IN" sz="2000" b="0" i="0">
                <a:latin typeface="Calibri" panose="020F0502020204030204" charset="0"/>
                <a:ea typeface="Segoe UI" panose="020B0502040204020203"/>
                <a:cs typeface="Calibri" panose="020F0502020204030204" charset="0"/>
              </a:rPr>
              <a:t> </a:t>
            </a:r>
            <a:r>
              <a:rPr sz="2000" b="0" i="0">
                <a:latin typeface="Calibri" panose="020F0502020204030204" charset="0"/>
                <a:ea typeface="Segoe UI" panose="020B0502040204020203"/>
                <a:cs typeface="Calibri" panose="020F0502020204030204" charset="0"/>
              </a:rPr>
              <a:t>Successfully generated conflict-free TDMA schedules</a:t>
            </a:r>
            <a:endParaRPr sz="2000" b="0" i="0">
              <a:latin typeface="Calibri" panose="020F0502020204030204" charset="0"/>
              <a:ea typeface="Segoe UI" panose="020B0502040204020203"/>
              <a:cs typeface="Calibri" panose="020F0502020204030204" charset="0"/>
            </a:endParaRPr>
          </a:p>
          <a:p>
            <a:pPr>
              <a:lnSpc>
                <a:spcPts val="1200"/>
              </a:lnSpc>
              <a:buFont typeface="Arial" panose="020B0604020202020204"/>
              <a:buChar char="•"/>
            </a:pPr>
            <a:endParaRPr sz="2000" b="0" i="0">
              <a:latin typeface="Calibri" panose="020F0502020204030204" charset="0"/>
              <a:ea typeface="Segoe UI" panose="020B0502040204020203"/>
              <a:cs typeface="Calibri" panose="020F0502020204030204" charset="0"/>
            </a:endParaRPr>
          </a:p>
          <a:p>
            <a:pPr>
              <a:lnSpc>
                <a:spcPts val="1200"/>
              </a:lnSpc>
              <a:buFont typeface="Arial" panose="020B0604020202020204"/>
              <a:buChar char="•"/>
            </a:pPr>
            <a:endParaRPr sz="2000" b="0" i="0">
              <a:latin typeface="Calibri" panose="020F0502020204030204" charset="0"/>
              <a:ea typeface="Segoe UI" panose="020B0502040204020203"/>
              <a:cs typeface="Calibri" panose="020F0502020204030204" charset="0"/>
            </a:endParaRPr>
          </a:p>
          <a:p>
            <a:pPr>
              <a:lnSpc>
                <a:spcPts val="1200"/>
              </a:lnSpc>
              <a:buFont typeface="Arial" panose="020B0604020202020204"/>
              <a:buChar char="•"/>
            </a:pPr>
            <a:r>
              <a:rPr lang="en-IN" sz="2000" b="0" i="0">
                <a:latin typeface="Calibri" panose="020F0502020204030204" charset="0"/>
                <a:ea typeface="Segoe UI" panose="020B0502040204020203"/>
                <a:cs typeface="Calibri" panose="020F0502020204030204" charset="0"/>
              </a:rPr>
              <a:t> </a:t>
            </a:r>
            <a:r>
              <a:rPr sz="2000" b="0" i="0">
                <a:latin typeface="Calibri" panose="020F0502020204030204" charset="0"/>
                <a:ea typeface="Segoe UI" panose="020B0502040204020203"/>
                <a:cs typeface="Calibri" panose="020F0502020204030204" charset="0"/>
              </a:rPr>
              <a:t>Achieved spatial reuse with only 9 timeslots</a:t>
            </a:r>
            <a:endParaRPr sz="2000" b="0" i="0">
              <a:latin typeface="Calibri" panose="020F0502020204030204" charset="0"/>
              <a:ea typeface="Segoe UI" panose="020B0502040204020203"/>
              <a:cs typeface="Calibri" panose="020F0502020204030204" charset="0"/>
            </a:endParaRPr>
          </a:p>
          <a:p>
            <a:pPr>
              <a:lnSpc>
                <a:spcPts val="1200"/>
              </a:lnSpc>
              <a:buFont typeface="Arial" panose="020B0604020202020204"/>
              <a:buChar char="•"/>
            </a:pPr>
            <a:endParaRPr sz="2000" b="0" i="0">
              <a:latin typeface="Calibri" panose="020F0502020204030204" charset="0"/>
              <a:ea typeface="Segoe UI" panose="020B0502040204020203"/>
              <a:cs typeface="Calibri" panose="020F0502020204030204" charset="0"/>
            </a:endParaRPr>
          </a:p>
          <a:p>
            <a:pPr indent="0">
              <a:lnSpc>
                <a:spcPts val="1200"/>
              </a:lnSpc>
              <a:buFont typeface="Arial" panose="020B0604020202020204"/>
              <a:buNone/>
            </a:pPr>
            <a:endParaRPr sz="2000" b="0" i="0">
              <a:latin typeface="Calibri" panose="020F0502020204030204" charset="0"/>
              <a:ea typeface="Segoe UI" panose="020B0502040204020203"/>
              <a:cs typeface="Calibri" panose="020F0502020204030204" charset="0"/>
            </a:endParaRPr>
          </a:p>
          <a:p>
            <a:pPr>
              <a:lnSpc>
                <a:spcPts val="1200"/>
              </a:lnSpc>
              <a:buFont typeface="Arial" panose="020B0604020202020204"/>
              <a:buChar char="•"/>
            </a:pPr>
            <a:r>
              <a:rPr lang="en-IN" sz="2000" b="0" i="0">
                <a:latin typeface="Calibri" panose="020F0502020204030204" charset="0"/>
                <a:ea typeface="Segoe UI" panose="020B0502040204020203"/>
                <a:cs typeface="Calibri" panose="020F0502020204030204" charset="0"/>
              </a:rPr>
              <a:t> </a:t>
            </a:r>
            <a:r>
              <a:rPr sz="2000" b="0" i="0">
                <a:latin typeface="Calibri" panose="020F0502020204030204" charset="0"/>
                <a:ea typeface="Segoe UI" panose="020B0502040204020203"/>
                <a:cs typeface="Calibri" panose="020F0502020204030204" charset="0"/>
              </a:rPr>
              <a:t>Ready for EMANE-based emulation</a:t>
            </a:r>
            <a:endParaRPr sz="2000" b="0" i="0">
              <a:latin typeface="Calibri" panose="020F0502020204030204" charset="0"/>
              <a:ea typeface="Segoe UI" panose="020B0502040204020203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2308</Words>
  <Application>WPS Presentation</Application>
  <PresentationFormat>On-screen Show (4:3)</PresentationFormat>
  <Paragraphs>57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1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Segoe UI</vt:lpstr>
      <vt:lpstr>Scheherazade</vt:lpstr>
      <vt:lpstr>Myanmar Text</vt:lpstr>
      <vt:lpstr>MS Reference Sans Serif</vt:lpstr>
      <vt:lpstr>Cambria</vt:lpstr>
      <vt:lpstr>Calibri Light</vt:lpstr>
      <vt:lpstr>Rupee Foradian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Malathi S</cp:lastModifiedBy>
  <cp:revision>3</cp:revision>
  <dcterms:created xsi:type="dcterms:W3CDTF">2013-01-27T09:14:00Z</dcterms:created>
  <dcterms:modified xsi:type="dcterms:W3CDTF">2026-10-13T14:25:11Z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3A17B529EE0043AB9774B08E46B9C378_12</vt:lpwstr>
  </property>
</Properties>
</file>